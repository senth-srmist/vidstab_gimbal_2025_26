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embeddedFontLst>
    <p:embeddedFont>
      <p:font typeface="Arial Black" panose="020B0A04020102020204" pitchFamily="34" charset="0"/>
      <p:regular r:id="rId15"/>
      <p:bold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8" roundtripDataSignature="AMtx7mjsrznxS5J/4Enc+eLylMPW39VIw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13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a2570a4c81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a2570a4c81_0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g3a2570a4c81_0_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2476a6bce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a2476a6bce_0_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g3a2476a6bce_0_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a29571e04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a29571e040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g3a29571e040_0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9db57a359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9db57a359f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9db57a359f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a269e46c30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a269e46c30_0_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g3a269e46c30_0_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a28d664bfb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a28d664bfb_0_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g3a28d664bfb_0_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980fd8150e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980fd8150e_0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3980fd8150e_0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9db57a359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9db57a359f_0_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g39db57a359f_0_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a269e46c30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a269e46c30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g3a269e46c30_0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8"/>
          <p:cNvSpPr txBox="1"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8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9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"/>
          <p:cNvSpPr txBox="1"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0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1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body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1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2"/>
          <p:cNvSpPr txBox="1"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body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body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5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6"/>
          <p:cNvSpPr>
            <a:spLocks noGrp="1"/>
          </p:cNvSpPr>
          <p:nvPr>
            <p:ph type="pic" idx="2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6"/>
          <p:cNvSpPr txBox="1">
            <a:spLocks noGrp="1"/>
          </p:cNvSpPr>
          <p:nvPr>
            <p:ph type="body" idx="1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body" idx="1"/>
          </p:nvPr>
        </p:nvSpPr>
        <p:spPr>
          <a:xfrm rot="5400000">
            <a:off x="2396331" y="57944"/>
            <a:ext cx="4351338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7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8"/>
          <p:cNvSpPr txBox="1">
            <a:spLocks noGrp="1"/>
          </p:cNvSpPr>
          <p:nvPr>
            <p:ph type="title"/>
          </p:nvPr>
        </p:nvSpPr>
        <p:spPr>
          <a:xfrm rot="5400000">
            <a:off x="4623594" y="2285207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body" idx="1"/>
          </p:nvPr>
        </p:nvSpPr>
        <p:spPr>
          <a:xfrm rot="5400000">
            <a:off x="623094" y="370681"/>
            <a:ext cx="5811838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5" name="Google Shape;15;p7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113157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utube.com/watch?v=t9-Enawv_mY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Arial Black"/>
                <a:ea typeface="Arial Black"/>
                <a:cs typeface="Arial Black"/>
                <a:sym typeface="Arial Black"/>
              </a:rPr>
              <a:t>10/24/2025</a:t>
            </a:r>
            <a:endParaRPr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91" name="Google Shape;91;p1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Arial Black"/>
                <a:ea typeface="Arial Black"/>
                <a:cs typeface="Arial Black"/>
                <a:sym typeface="Arial Black"/>
              </a:rPr>
              <a:t>21MHP401L/403L - Major Project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900953" y="1062752"/>
            <a:ext cx="70329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>
                <a:latin typeface="Times New Roman"/>
                <a:ea typeface="Times New Roman"/>
                <a:cs typeface="Times New Roman"/>
                <a:sym typeface="Times New Roman"/>
              </a:rPr>
              <a:t>Development of a Pan-Tilt Gimbal Control System for Mechanical Video Stabilization and Vision Based Target Tracking.</a:t>
            </a:r>
            <a:endParaRPr sz="1900"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900953" y="2410998"/>
            <a:ext cx="7032900" cy="2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sng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Members</a:t>
            </a:r>
            <a:endParaRPr/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SHARISH K A</a:t>
            </a:r>
            <a:r>
              <a:rPr lang="en-US"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RA2211038010017</a:t>
            </a:r>
            <a:r>
              <a:rPr lang="en-US"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/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DIYANEZ KANDASAAMY J S</a:t>
            </a:r>
            <a:r>
              <a:rPr lang="en-US"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RA2211038010032</a:t>
            </a:r>
            <a:r>
              <a:rPr lang="en-US"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/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ANIRUDH A</a:t>
            </a:r>
            <a:r>
              <a:rPr lang="en-US"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RA2211038010049</a:t>
            </a:r>
            <a:r>
              <a:rPr lang="en-US"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900953" y="4737336"/>
            <a:ext cx="70329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Under the Guidance of</a:t>
            </a:r>
            <a:endParaRPr/>
          </a:p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 </a:t>
            </a:r>
            <a:r>
              <a:rPr lang="en-US" sz="24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 Senthilnathan </a:t>
            </a:r>
            <a:r>
              <a:rPr lang="en-US" sz="2400" b="0" i="0" u="none" strike="noStrike" cap="non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M.E., Ph.D.  </a:t>
            </a:r>
            <a:endParaRPr/>
          </a:p>
        </p:txBody>
      </p:sp>
      <p:sp>
        <p:nvSpPr>
          <p:cNvPr id="95" name="Google Shape;95;p1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  <p:sp>
        <p:nvSpPr>
          <p:cNvPr id="96" name="Google Shape;96;p1"/>
          <p:cNvSpPr txBox="1"/>
          <p:nvPr/>
        </p:nvSpPr>
        <p:spPr>
          <a:xfrm>
            <a:off x="2779700" y="1832325"/>
            <a:ext cx="3086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Batch No. </a:t>
            </a:r>
            <a:r>
              <a:rPr lang="en-US" sz="24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MRP 07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a2570a4c81_0_14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Background </a:t>
            </a:r>
            <a:endParaRPr/>
          </a:p>
        </p:txBody>
      </p:sp>
      <p:sp>
        <p:nvSpPr>
          <p:cNvPr id="103" name="Google Shape;103;g3a2570a4c81_0_14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g3a2570a4c81_0_14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105" name="Google Shape;105;g3a2570a4c81_0_14" descr="Full timelapse of all the prototypes here :  https://youtu.be/8SeI-KrNr7w&#10;* The blue rectangles are not the actual inference from the neural net. The model uses 540p images which were not great for this video.&#10;&#10;&#10;Credits to Olliw as this gimbal uses the Storm32 BGC" title="3d printed gimbal with auto tracking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2950" y="2010025"/>
            <a:ext cx="6968700" cy="391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Arial Black"/>
                <a:ea typeface="Arial Black"/>
                <a:cs typeface="Arial Black"/>
                <a:sym typeface="Arial Black"/>
              </a:rPr>
              <a:t>10/24/2025</a:t>
            </a:r>
            <a:endParaRPr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352975" y="1905150"/>
            <a:ext cx="4884000" cy="44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❑"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Integrate an existing pan tilt gimbal comprising onboard sensors and actuators to a FPGA based real-time controller.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❑"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develop a pan-tilt gimbal control algorithm for mechanical stabilization, that reduces the effect disturbances, both internal and external, on the camera.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Times New Roman"/>
              <a:buChar char="❑"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develop an agile tracking system that enables the gimbal to lock onto the target specified by the user and follow it, maintaining minimum tracking error under dynamic conditions.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2897281" y="6345184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88888"/>
                </a:solidFill>
                <a:latin typeface="Arial Black"/>
                <a:ea typeface="Arial Black"/>
                <a:cs typeface="Arial Black"/>
                <a:sym typeface="Arial Black"/>
              </a:rPr>
              <a:t>21MHP401L/403L - Major Project</a:t>
            </a:r>
            <a:endParaRPr/>
          </a:p>
        </p:txBody>
      </p:sp>
      <p:sp>
        <p:nvSpPr>
          <p:cNvPr id="114" name="Google Shape;114;p2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115" name="Google Shape;115;p2"/>
          <p:cNvSpPr txBox="1"/>
          <p:nvPr/>
        </p:nvSpPr>
        <p:spPr>
          <a:xfrm>
            <a:off x="524250" y="1043262"/>
            <a:ext cx="80955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Objective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" name="Google Shape;116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3650" y="1728600"/>
            <a:ext cx="3086100" cy="282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5400000">
            <a:off x="6213535" y="3916325"/>
            <a:ext cx="1726326" cy="306905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"/>
          <p:cNvCxnSpPr/>
          <p:nvPr/>
        </p:nvCxnSpPr>
        <p:spPr>
          <a:xfrm rot="10800000">
            <a:off x="6304275" y="5029250"/>
            <a:ext cx="918900" cy="34440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9" name="Google Shape;119;p2"/>
          <p:cNvSpPr txBox="1"/>
          <p:nvPr/>
        </p:nvSpPr>
        <p:spPr>
          <a:xfrm>
            <a:off x="5861425" y="4815825"/>
            <a:ext cx="5964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IMU</a:t>
            </a:r>
            <a:endParaRPr sz="1600">
              <a:solidFill>
                <a:schemeClr val="accen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a2476a6bce_0_17"/>
          <p:cNvSpPr txBox="1">
            <a:spLocks noGrp="1"/>
          </p:cNvSpPr>
          <p:nvPr>
            <p:ph type="title"/>
          </p:nvPr>
        </p:nvSpPr>
        <p:spPr>
          <a:xfrm>
            <a:off x="512475" y="1038851"/>
            <a:ext cx="78867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APPLICATION CONTEXT</a:t>
            </a:r>
            <a:endParaRPr sz="320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g3a2476a6bce_0_17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Times New Roman"/>
              <a:buChar char="●"/>
            </a:pPr>
            <a:r>
              <a:rPr lang="en-US" sz="1700" b="1">
                <a:latin typeface="Times New Roman"/>
                <a:ea typeface="Times New Roman"/>
                <a:cs typeface="Times New Roman"/>
                <a:sym typeface="Times New Roman"/>
              </a:rPr>
              <a:t>Operating Conditions:</a:t>
            </a:r>
            <a:r>
              <a:rPr lang="en-US" sz="1700">
                <a:latin typeface="Times New Roman"/>
                <a:ea typeface="Times New Roman"/>
                <a:cs typeface="Times New Roman"/>
                <a:sym typeface="Times New Roman"/>
              </a:rPr>
              <a:t> Adapted to outdoor settings subjected to non-harsh conditions and counteract to disturbances by maintaining reliable control for stable imagery.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Times New Roman"/>
              <a:buChar char="●"/>
            </a:pPr>
            <a:r>
              <a:rPr lang="en-US" sz="1700" b="1">
                <a:latin typeface="Times New Roman"/>
                <a:ea typeface="Times New Roman"/>
                <a:cs typeface="Times New Roman"/>
                <a:sym typeface="Times New Roman"/>
              </a:rPr>
              <a:t>Nature of Modalities:</a:t>
            </a:r>
            <a:r>
              <a:rPr lang="en-US" sz="1700">
                <a:latin typeface="Times New Roman"/>
                <a:ea typeface="Times New Roman"/>
                <a:cs typeface="Times New Roman"/>
                <a:sym typeface="Times New Roman"/>
              </a:rPr>
              <a:t> Only limited to land modalities. Limited bandwidth and low frequencies of undulations of road surface.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Times New Roman"/>
              <a:buChar char="●"/>
            </a:pPr>
            <a:r>
              <a:rPr lang="en-US" sz="1700" b="1">
                <a:latin typeface="Times New Roman"/>
                <a:ea typeface="Times New Roman"/>
                <a:cs typeface="Times New Roman"/>
                <a:sym typeface="Times New Roman"/>
              </a:rPr>
              <a:t>Nature of Targets: </a:t>
            </a:r>
            <a:r>
              <a:rPr lang="en-US" sz="1700">
                <a:latin typeface="Times New Roman"/>
                <a:ea typeface="Times New Roman"/>
                <a:cs typeface="Times New Roman"/>
                <a:sym typeface="Times New Roman"/>
              </a:rPr>
              <a:t>Designation through mouse clicks of target such as humans, motorcycles and cars.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Times New Roman"/>
              <a:buChar char="●"/>
            </a:pPr>
            <a:r>
              <a:rPr lang="en-US" sz="1700" b="1">
                <a:latin typeface="Times New Roman"/>
                <a:ea typeface="Times New Roman"/>
                <a:cs typeface="Times New Roman"/>
                <a:sym typeface="Times New Roman"/>
              </a:rPr>
              <a:t>Deployment Focus</a:t>
            </a:r>
            <a:r>
              <a:rPr lang="en-US" sz="1700">
                <a:latin typeface="Times New Roman"/>
                <a:ea typeface="Times New Roman"/>
                <a:cs typeface="Times New Roman"/>
                <a:sym typeface="Times New Roman"/>
              </a:rPr>
              <a:t>: Entire performance metrics such speed and accuracy of the system is governed by the existing mechanism, the actuators and sensors onboard.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a2476a6bce_0_17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a29571e040_0_1"/>
          <p:cNvSpPr txBox="1">
            <a:spLocks noGrp="1"/>
          </p:cNvSpPr>
          <p:nvPr>
            <p:ph type="title"/>
          </p:nvPr>
        </p:nvSpPr>
        <p:spPr>
          <a:xfrm>
            <a:off x="640862" y="3234837"/>
            <a:ext cx="78867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1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System Block Diagram</a:t>
            </a:r>
            <a:endParaRPr sz="6300"/>
          </a:p>
        </p:txBody>
      </p:sp>
      <p:sp>
        <p:nvSpPr>
          <p:cNvPr id="134" name="Google Shape;134;g3a29571e040_0_1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9db57a359f_0_0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141" name="Google Shape;141;g39db57a359f_0_0"/>
          <p:cNvPicPr preferRelativeResize="0"/>
          <p:nvPr/>
        </p:nvPicPr>
        <p:blipFill rotWithShape="1">
          <a:blip r:embed="rId3">
            <a:alphaModFix/>
          </a:blip>
          <a:srcRect l="-3766" t="-8049"/>
          <a:stretch/>
        </p:blipFill>
        <p:spPr>
          <a:xfrm>
            <a:off x="0" y="896815"/>
            <a:ext cx="9012116" cy="50819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a269e46c30_0_3"/>
          <p:cNvSpPr txBox="1">
            <a:spLocks noGrp="1"/>
          </p:cNvSpPr>
          <p:nvPr>
            <p:ph type="title"/>
          </p:nvPr>
        </p:nvSpPr>
        <p:spPr>
          <a:xfrm>
            <a:off x="628650" y="773475"/>
            <a:ext cx="7886700" cy="9174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Hardware Block Diagram</a:t>
            </a:r>
            <a:endParaRPr sz="320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8" name="Google Shape;148;g3a269e46c30_0_3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g3a269e46c30_0_3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pic>
        <p:nvPicPr>
          <p:cNvPr id="150" name="Google Shape;150;g3a269e46c30_0_3" title="Untitled Diagram.drawio (7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3775" y="1664300"/>
            <a:ext cx="7936451" cy="469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28d664bfb_0_2"/>
          <p:cNvSpPr txBox="1">
            <a:spLocks noGrp="1"/>
          </p:cNvSpPr>
          <p:nvPr>
            <p:ph type="title"/>
          </p:nvPr>
        </p:nvSpPr>
        <p:spPr>
          <a:xfrm>
            <a:off x="580550" y="711401"/>
            <a:ext cx="78867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METHODOLOGY</a:t>
            </a:r>
            <a:endParaRPr/>
          </a:p>
        </p:txBody>
      </p:sp>
      <p:sp>
        <p:nvSpPr>
          <p:cNvPr id="157" name="Google Shape;157;g3a28d664bfb_0_2"/>
          <p:cNvSpPr txBox="1">
            <a:spLocks noGrp="1"/>
          </p:cNvSpPr>
          <p:nvPr>
            <p:ph type="body" idx="1"/>
          </p:nvPr>
        </p:nvSpPr>
        <p:spPr>
          <a:xfrm>
            <a:off x="628650" y="1816025"/>
            <a:ext cx="78867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lnSpcReduction="20000"/>
          </a:bodyPr>
          <a:lstStyle/>
          <a:p>
            <a:pPr marL="457200" lvl="0" indent="-374650" algn="l" rtl="0">
              <a:spcBef>
                <a:spcPts val="1000"/>
              </a:spcBef>
              <a:spcAft>
                <a:spcPts val="0"/>
              </a:spcAft>
              <a:buSzPts val="2300"/>
              <a:buFont typeface="Times New Roman"/>
              <a:buAutoNum type="arabicPeriod"/>
            </a:pP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System Specification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74650" algn="l" rtl="0">
              <a:spcBef>
                <a:spcPts val="1000"/>
              </a:spcBef>
              <a:spcAft>
                <a:spcPts val="0"/>
              </a:spcAft>
              <a:buSzPts val="2300"/>
              <a:buFont typeface="Times New Roman"/>
              <a:buAutoNum type="arabicPeriod"/>
            </a:pP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Hardware integration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74650" algn="l" rtl="0">
              <a:spcBef>
                <a:spcPts val="1000"/>
              </a:spcBef>
              <a:spcAft>
                <a:spcPts val="0"/>
              </a:spcAft>
              <a:buSzPts val="2300"/>
              <a:buFont typeface="Times New Roman"/>
              <a:buAutoNum type="arabicPeriod"/>
            </a:pP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Sensor Data Acquisition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74650" algn="l" rtl="0">
              <a:spcBef>
                <a:spcPts val="1000"/>
              </a:spcBef>
              <a:spcAft>
                <a:spcPts val="0"/>
              </a:spcAft>
              <a:buSzPts val="2300"/>
              <a:buFont typeface="Times New Roman"/>
              <a:buAutoNum type="arabicPeriod"/>
            </a:pP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Algorithm Development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74650" algn="l" rtl="0">
              <a:spcBef>
                <a:spcPts val="1000"/>
              </a:spcBef>
              <a:spcAft>
                <a:spcPts val="0"/>
              </a:spcAft>
              <a:buSzPts val="2300"/>
              <a:buFont typeface="Times New Roman"/>
              <a:buAutoNum type="arabicPeriod"/>
            </a:pP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User Interface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74650" algn="l" rtl="0">
              <a:spcBef>
                <a:spcPts val="1000"/>
              </a:spcBef>
              <a:spcAft>
                <a:spcPts val="0"/>
              </a:spcAft>
              <a:buSzPts val="2300"/>
              <a:buFont typeface="Times New Roman"/>
              <a:buAutoNum type="arabicPeriod"/>
            </a:pPr>
            <a:r>
              <a:rPr lang="en-US" sz="2300">
                <a:latin typeface="Times New Roman"/>
                <a:ea typeface="Times New Roman"/>
                <a:cs typeface="Times New Roman"/>
                <a:sym typeface="Times New Roman"/>
              </a:rPr>
              <a:t>Testing and Evaluation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8" name="Google Shape;158;g3a28d664bfb_0_2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980fd8150e_0_8"/>
          <p:cNvSpPr txBox="1">
            <a:spLocks noGrp="1"/>
          </p:cNvSpPr>
          <p:nvPr>
            <p:ph type="title"/>
          </p:nvPr>
        </p:nvSpPr>
        <p:spPr>
          <a:xfrm>
            <a:off x="628650" y="679451"/>
            <a:ext cx="7886700" cy="1325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32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Deliverables</a:t>
            </a:r>
            <a:endParaRPr/>
          </a:p>
        </p:txBody>
      </p:sp>
      <p:sp>
        <p:nvSpPr>
          <p:cNvPr id="165" name="Google Shape;165;g3980fd8150e_0_8"/>
          <p:cNvSpPr txBox="1">
            <a:spLocks noGrp="1"/>
          </p:cNvSpPr>
          <p:nvPr>
            <p:ph type="body" idx="1"/>
          </p:nvPr>
        </p:nvSpPr>
        <p:spPr>
          <a:xfrm>
            <a:off x="628650" y="2005150"/>
            <a:ext cx="78867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Font typeface="Times New Roman"/>
              <a:buChar char="✔"/>
            </a:pPr>
            <a:r>
              <a:rPr lang="en-US" sz="1700">
                <a:latin typeface="Times New Roman"/>
                <a:ea typeface="Times New Roman"/>
                <a:cs typeface="Times New Roman"/>
                <a:sym typeface="Times New Roman"/>
              </a:rPr>
              <a:t>Develop and evaluate control algorithm for mitigating both predictable and unpredictable external disturbances that affect camera stability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Times New Roman"/>
              <a:buChar char="✔"/>
            </a:pPr>
            <a:r>
              <a:rPr lang="en-US" sz="1700">
                <a:latin typeface="Times New Roman"/>
                <a:ea typeface="Times New Roman"/>
                <a:cs typeface="Times New Roman"/>
                <a:sym typeface="Times New Roman"/>
              </a:rPr>
              <a:t>Engineer an algorithm that capable of providing stable imaging and precise tracking for dynamic targets on terrain.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Font typeface="Times New Roman"/>
              <a:buChar char="✔"/>
            </a:pPr>
            <a:r>
              <a:rPr lang="en-US" sz="1700">
                <a:latin typeface="Times New Roman"/>
                <a:ea typeface="Times New Roman"/>
                <a:cs typeface="Times New Roman"/>
                <a:sym typeface="Times New Roman"/>
              </a:rPr>
              <a:t>Creating a experimental rig that could serve as a testbed for control algorithms as well as serve as a basis for future developments by allowing experimentation with differents software control strategies.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Font typeface="Times New Roman"/>
              <a:buChar char="✔"/>
            </a:pPr>
            <a:r>
              <a:rPr lang="en-US" sz="1700">
                <a:latin typeface="Times New Roman"/>
                <a:ea typeface="Times New Roman"/>
                <a:cs typeface="Times New Roman"/>
                <a:sym typeface="Times New Roman"/>
              </a:rPr>
              <a:t>Delivering a modular control software, ensuring each module can be updated, replaced, or expanded independently—facilitating quick adaptation to new algorithms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21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6" name="Google Shape;166;g3980fd8150e_0_8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9db57a359f_0_11"/>
          <p:cNvSpPr txBox="1">
            <a:spLocks noGrp="1"/>
          </p:cNvSpPr>
          <p:nvPr>
            <p:ph type="body" idx="1"/>
          </p:nvPr>
        </p:nvSpPr>
        <p:spPr>
          <a:xfrm>
            <a:off x="628650" y="1086625"/>
            <a:ext cx="7886700" cy="735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Gantt-Chart Timeline</a:t>
            </a:r>
            <a:endParaRPr sz="320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3" name="Google Shape;173;g39db57a359f_0_11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pic>
        <p:nvPicPr>
          <p:cNvPr id="174" name="Google Shape;174;g39db57a359f_0_11" title="Online Gantt 2025110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4050" y="2229625"/>
            <a:ext cx="8845825" cy="449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a269e46c30_0_12"/>
          <p:cNvSpPr txBox="1">
            <a:spLocks noGrp="1"/>
          </p:cNvSpPr>
          <p:nvPr>
            <p:ph type="title"/>
          </p:nvPr>
        </p:nvSpPr>
        <p:spPr>
          <a:xfrm>
            <a:off x="623538" y="757750"/>
            <a:ext cx="7886700" cy="7764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Work Breakdown Matrix</a:t>
            </a:r>
            <a:endParaRPr sz="3200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1" name="Google Shape;181;g3a269e46c30_0_12"/>
          <p:cNvSpPr txBox="1">
            <a:spLocks noGrp="1"/>
          </p:cNvSpPr>
          <p:nvPr>
            <p:ph type="body" idx="1"/>
          </p:nvPr>
        </p:nvSpPr>
        <p:spPr>
          <a:xfrm>
            <a:off x="-10084825" y="1455850"/>
            <a:ext cx="78867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3a269e46c30_0_12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183" name="Google Shape;183;g3a269e46c30_0_12"/>
          <p:cNvSpPr/>
          <p:nvPr/>
        </p:nvSpPr>
        <p:spPr>
          <a:xfrm>
            <a:off x="1707179" y="3320815"/>
            <a:ext cx="66300" cy="5760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g3a269e46c30_0_12"/>
          <p:cNvSpPr/>
          <p:nvPr/>
        </p:nvSpPr>
        <p:spPr>
          <a:xfrm>
            <a:off x="2746004" y="3320815"/>
            <a:ext cx="66300" cy="57600"/>
          </a:xfrm>
          <a:prstGeom prst="triangle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85" name="Google Shape;185;g3a269e46c30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2925" y="1455850"/>
            <a:ext cx="8527925" cy="498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6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Arial Black"/>
                <a:ea typeface="Arial Black"/>
                <a:cs typeface="Arial Black"/>
                <a:sym typeface="Arial Black"/>
              </a:rPr>
              <a:t>10/24/2025</a:t>
            </a:r>
            <a:endParaRPr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192" name="Google Shape;192;p6"/>
          <p:cNvSpPr txBox="1"/>
          <p:nvPr/>
        </p:nvSpPr>
        <p:spPr>
          <a:xfrm>
            <a:off x="453838" y="1608806"/>
            <a:ext cx="8582586" cy="2042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/>
          </a:p>
        </p:txBody>
      </p:sp>
      <p:sp>
        <p:nvSpPr>
          <p:cNvPr id="193" name="Google Shape;193;p6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latin typeface="Arial Black"/>
                <a:ea typeface="Arial Black"/>
                <a:cs typeface="Arial Black"/>
                <a:sym typeface="Arial Black"/>
              </a:rPr>
              <a:t>21MHP401L/403L - Major Project</a:t>
            </a:r>
            <a:endParaRPr/>
          </a:p>
        </p:txBody>
      </p:sp>
      <p:sp>
        <p:nvSpPr>
          <p:cNvPr id="194" name="Google Shape;194;p6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395</Words>
  <Application>Microsoft Office PowerPoint</Application>
  <PresentationFormat>On-screen Show (4:3)</PresentationFormat>
  <Paragraphs>87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Times New Roman</vt:lpstr>
      <vt:lpstr>Calibri</vt:lpstr>
      <vt:lpstr>Arial</vt:lpstr>
      <vt:lpstr>Arial Black</vt:lpstr>
      <vt:lpstr>Office Theme</vt:lpstr>
      <vt:lpstr>PowerPoint Presentation</vt:lpstr>
      <vt:lpstr>Background </vt:lpstr>
      <vt:lpstr>PowerPoint Presentation</vt:lpstr>
      <vt:lpstr>APPLICATION CONTEXT </vt:lpstr>
      <vt:lpstr>System Block Diagram</vt:lpstr>
      <vt:lpstr>PowerPoint Presentation</vt:lpstr>
      <vt:lpstr>Hardware Block Diagram</vt:lpstr>
      <vt:lpstr>METHODOLOGY</vt:lpstr>
      <vt:lpstr>Key Deliverables</vt:lpstr>
      <vt:lpstr>PowerPoint Presentation</vt:lpstr>
      <vt:lpstr>Work Breakdown Matrix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GANGA</dc:creator>
  <cp:lastModifiedBy>SHARISH K . A</cp:lastModifiedBy>
  <cp:revision>1</cp:revision>
  <dcterms:created xsi:type="dcterms:W3CDTF">2018-08-13T09:05:25Z</dcterms:created>
  <dcterms:modified xsi:type="dcterms:W3CDTF">2026-01-20T06:40:36Z</dcterms:modified>
</cp:coreProperties>
</file>